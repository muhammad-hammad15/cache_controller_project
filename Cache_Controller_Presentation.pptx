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69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A2A45">
              <a:alpha val="90000"/>
            </a:srgbClr>
          </a:solidFill>
          <a:ln w="12700">
            <a:solidFill>
              <a:srgbClr val="0A2A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914400"/>
            <a:ext cx="1060704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and Verification of a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2-Way Set-Associative Cache Controller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5146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6EAF8"/>
                </a:solidFill>
              </a:rPr>
              <a:t>Verilog RTL Project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35808"/>
            <a:ext cx="5669280" cy="0"/>
          </a:xfrm>
          <a:prstGeom prst="line">
            <a:avLst/>
          </a:prstGeom>
          <a:noFill/>
          <a:ln w="31750">
            <a:solidFill>
              <a:srgbClr val="00A3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324612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2-Way Set Associative   •   LRU   •   Write-Through   •   No-Write-Allocate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16636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EBC8"/>
          </a:solidFill>
          <a:ln w="12700">
            <a:solidFill>
              <a:srgbClr val="FFEB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50976" y="5431536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CPU Interface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16352" y="5559552"/>
            <a:ext cx="9144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730752" y="5001768"/>
            <a:ext cx="2560320" cy="1078992"/>
          </a:xfrm>
          <a:prstGeom prst="roundRect">
            <a:avLst>
              <a:gd name="adj" fmla="val 5085"/>
            </a:avLst>
          </a:prstGeom>
          <a:solidFill>
            <a:srgbClr val="A9D7FF"/>
          </a:solidFill>
          <a:ln w="12700">
            <a:solidFill>
              <a:srgbClr val="A9D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005072" y="528523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Cache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Controller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5559552"/>
            <a:ext cx="9144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269480" y="5166360"/>
            <a:ext cx="2057400" cy="777240"/>
          </a:xfrm>
          <a:prstGeom prst="roundRect">
            <a:avLst>
              <a:gd name="adj" fmla="val 7059"/>
            </a:avLst>
          </a:prstGeom>
          <a:solidFill>
            <a:srgbClr val="DDF6DE"/>
          </a:solidFill>
          <a:ln w="12700">
            <a:solidFill>
              <a:srgbClr val="DDF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543800" y="54315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Cache Store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Objective &amp; Scope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Assigned cache configuration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2/12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960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558"/>
                </a:solidFill>
              </a:rPr>
              <a:t>Goal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53035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Design and verify a modular Verilog cache controller that demonstrates hit/miss detection, LRU replacement, Write-Through behavior, and No-Write-Allocate handling.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5212080" cy="0"/>
          </a:xfrm>
          <a:prstGeom prst="line">
            <a:avLst/>
          </a:prstGeom>
          <a:noFill/>
          <a:ln w="17780">
            <a:solidFill>
              <a:srgbClr val="00A3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87168"/>
            <a:ext cx="48463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500" dirty="0">
                <a:solidFill>
                  <a:srgbClr val="111111"/>
                </a:solidFill>
              </a:rPr>
              <a:t>Directed simulation only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Clear PASS/FAIL reporting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Simple main memory; FSM only in cache controller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558"/>
                </a:solidFill>
              </a:rPr>
              <a:t>Implemented Parameters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46520" y="1325880"/>
            <a:ext cx="4663440" cy="393192"/>
          </a:xfrm>
          <a:prstGeom prst="rect">
            <a:avLst/>
          </a:prstGeom>
          <a:solidFill>
            <a:srgbClr val="F4F8FB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01968" y="142646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Address width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2396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16 bits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46520" y="1755648"/>
            <a:ext cx="46634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01968" y="18562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Cache lines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23960" y="18470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8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46520" y="2185416"/>
            <a:ext cx="4663440" cy="393192"/>
          </a:xfrm>
          <a:prstGeom prst="rect">
            <a:avLst/>
          </a:prstGeom>
          <a:solidFill>
            <a:srgbClr val="F4F8FB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01968" y="228600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Organization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23960" y="227685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4 sets × 2 ways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2615184"/>
            <a:ext cx="46634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01968" y="271576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Data per line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23960" y="270662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32 bits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46520" y="3044952"/>
            <a:ext cx="4663440" cy="393192"/>
          </a:xfrm>
          <a:prstGeom prst="rect">
            <a:avLst/>
          </a:prstGeom>
          <a:solidFill>
            <a:srgbClr val="F4F8FB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01968" y="314553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Replacement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23960" y="313639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LRU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46520" y="3474720"/>
            <a:ext cx="46634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01968" y="357530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Write policy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23960" y="356616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Write-Through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46520" y="3904488"/>
            <a:ext cx="4663440" cy="393192"/>
          </a:xfrm>
          <a:prstGeom prst="rect">
            <a:avLst/>
          </a:prstGeom>
          <a:solidFill>
            <a:srgbClr val="F4F8FB"/>
          </a:solidFill>
          <a:ln w="12700">
            <a:solidFill>
              <a:srgbClr val="DEE6E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01968" y="400507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770"/>
                </a:solidFill>
              </a:rPr>
              <a:t>Write miss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23960" y="399592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</a:rPr>
              <a:t>No-Write-Allocate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Cache Organization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Address mapping and storage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3/12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3558"/>
                </a:solidFill>
              </a:rPr>
              <a:t>Address Breakdown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5669280" cy="658368"/>
          </a:xfrm>
          <a:prstGeom prst="rect">
            <a:avLst/>
          </a:prstGeom>
          <a:solidFill>
            <a:srgbClr val="F5F7FA"/>
          </a:solidFill>
          <a:ln w="1524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4526280" cy="658368"/>
          </a:xfrm>
          <a:prstGeom prst="rect">
            <a:avLst/>
          </a:prstGeom>
          <a:solidFill>
            <a:srgbClr val="DDEEFF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5910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TAG [15:2]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14 bits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66360" y="1463040"/>
            <a:ext cx="1143000" cy="658368"/>
          </a:xfrm>
          <a:prstGeom prst="rect">
            <a:avLst/>
          </a:prstGeom>
          <a:solidFill>
            <a:srgbClr val="DDF6DE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30952" y="159105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0000"/>
                </a:solidFill>
              </a:rPr>
              <a:t>INDEX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00000"/>
                </a:solidFill>
              </a:rPr>
              <a:t>[1:0]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2331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</a:rPr>
              <a:t>Hit condition: valid way + matching tag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914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558"/>
                </a:solidFill>
              </a:rPr>
              <a:t>4 sets × 2 ways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16367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770"/>
                </a:solidFill>
              </a:rPr>
              <a:t>Set 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0" y="146304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406640" y="156362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06840" y="146304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098280" y="156362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3682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770"/>
                </a:solidFill>
              </a:rPr>
              <a:t>Set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9456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06640" y="229514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06840" y="219456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98280" y="229514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0" y="309981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770"/>
                </a:solidFill>
              </a:rPr>
              <a:t>Set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292608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406640" y="302666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292608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098280" y="302666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83680" y="383133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770"/>
                </a:solidFill>
              </a:rPr>
              <a:t>Set 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365760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06640" y="37581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06840" y="3657600"/>
            <a:ext cx="1444752" cy="502920"/>
          </a:xfrm>
          <a:prstGeom prst="roundRect">
            <a:avLst>
              <a:gd name="adj" fmla="val 9091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098280" y="37581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Way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</a:rPr>
              <a:t>Tag | Data | V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13232" y="3886200"/>
            <a:ext cx="2834640" cy="804672"/>
          </a:xfrm>
          <a:prstGeom prst="roundRect">
            <a:avLst>
              <a:gd name="adj" fmla="val 9091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3995928"/>
            <a:ext cx="2615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</a:rPr>
              <a:t>1 LRU bit per set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</a:rPr>
              <a:t>selects replacement victim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703320" y="3886200"/>
            <a:ext cx="2743200" cy="804672"/>
          </a:xfrm>
          <a:prstGeom prst="roundRect">
            <a:avLst>
              <a:gd name="adj" fmla="val 9091"/>
            </a:avLst>
          </a:prstGeom>
          <a:solidFill>
            <a:srgbClr val="E8F7F5"/>
          </a:solidFill>
          <a:ln w="12700">
            <a:solidFill>
              <a:srgbClr val="E8F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813048" y="3995928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</a:rPr>
              <a:t>No dirty bit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</a:rPr>
              <a:t>Write-Through policy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Top-level data/control 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4/12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770"/>
                </a:solidFill>
              </a:rPr>
              <a:t>Testbench → CPU model → cache controller → main memory</a:t>
            </a:r>
            <a:endParaRPr lang="en-US" sz="13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BBEBB-DDE5-56BA-E7CB-C2E82BEC9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60" y="753539"/>
            <a:ext cx="9540240" cy="5350922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Breakdown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What each file does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5/12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743200" y="2148840"/>
            <a:ext cx="822960" cy="0"/>
          </a:xfrm>
          <a:prstGeom prst="line">
            <a:avLst/>
          </a:prstGeom>
          <a:noFill/>
          <a:ln w="2032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0" y="2148840"/>
            <a:ext cx="822960" cy="0"/>
          </a:xfrm>
          <a:prstGeom prst="line">
            <a:avLst/>
          </a:prstGeom>
          <a:noFill/>
          <a:ln w="2032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595360" y="2148840"/>
            <a:ext cx="822960" cy="0"/>
          </a:xfrm>
          <a:prstGeom prst="line">
            <a:avLst/>
          </a:prstGeom>
          <a:noFill/>
          <a:ln w="2032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14300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FEBC8"/>
          </a:solidFill>
          <a:ln w="12700">
            <a:solidFill>
              <a:srgbClr val="9AA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13441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cpu_model.v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183794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CPU-side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request_sent flag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one cache_req pulse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114300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DDEEFF"/>
          </a:solidFill>
          <a:ln w="12700">
            <a:solidFill>
              <a:srgbClr val="9AA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30752" y="13441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cache_controller.v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7328" y="183794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Core cache logic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hit/miss + LRU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4-state FSM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92240" y="114300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E9D6FF"/>
          </a:solidFill>
          <a:ln w="12700">
            <a:solidFill>
              <a:srgbClr val="9AA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56832" y="13441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main_memory.v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93408" y="183794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Backing memory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combinational read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synchronous write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18320" y="114300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DDF6DE"/>
          </a:solidFill>
          <a:ln w="12700">
            <a:solidFill>
              <a:srgbClr val="9AA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582912" y="13441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cache_system_top.v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19488" y="183794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Integration module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</a:rPr>
              <a:t>connects internal signals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9776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558"/>
                </a:solidFill>
              </a:rPr>
              <a:t>Design decision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4352544"/>
            <a:ext cx="47548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Cache controller is the only FSM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Main memory stays simple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Testbench uses read_test() and write_test() tasks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41148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DF7FF"/>
          </a:solidFill>
          <a:ln w="12700">
            <a:solidFill>
              <a:srgbClr val="EDF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93408" y="4224528"/>
            <a:ext cx="398678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Synthesizable RTL modules: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cpu_model.v, cache_controller.v, main_memory.v, cache_system_top.v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Cache Controller FSM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Four-state control 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6/12</a:t>
            </a:r>
            <a:endParaRPr lang="en-US" sz="750" dirty="0"/>
          </a:p>
        </p:txBody>
      </p:sp>
      <p:pic>
        <p:nvPicPr>
          <p:cNvPr id="6" name="Image 0" descr="/mnt/data/report_extract/word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809" y="896112"/>
            <a:ext cx="7115263" cy="5074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558"/>
                </a:solidFill>
              </a:rPr>
              <a:t>State roles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89720" y="1417320"/>
            <a:ext cx="224028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250" dirty="0">
                <a:solidFill>
                  <a:srgbClr val="111111"/>
                </a:solidFill>
              </a:rPr>
              <a:t>IDLE: wait for request</a:t>
            </a:r>
            <a:endParaRPr lang="en-US" sz="1250" dirty="0"/>
          </a:p>
          <a:p>
            <a:r>
              <a:rPr lang="en-US" sz="1250" dirty="0">
                <a:solidFill>
                  <a:srgbClr val="111111"/>
                </a:solidFill>
              </a:rPr>
              <a:t>LOOKUP: compare both ways</a:t>
            </a:r>
            <a:endParaRPr lang="en-US" sz="1250" dirty="0"/>
          </a:p>
          <a:p>
            <a:r>
              <a:rPr lang="en-US" sz="1250" dirty="0">
                <a:solidFill>
                  <a:srgbClr val="111111"/>
                </a:solidFill>
              </a:rPr>
              <a:t>MEM_READ: service read miss</a:t>
            </a:r>
            <a:endParaRPr lang="en-US" sz="1250" dirty="0"/>
          </a:p>
          <a:p>
            <a:r>
              <a:rPr lang="en-US" sz="1250" dirty="0">
                <a:solidFill>
                  <a:srgbClr val="111111"/>
                </a:solidFill>
              </a:rPr>
              <a:t>MEM_WRITE: write-through to memory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0" y="3749040"/>
            <a:ext cx="2377440" cy="658368"/>
          </a:xfrm>
          <a:prstGeom prst="roundRect">
            <a:avLst>
              <a:gd name="adj" fmla="val 11111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253728" y="38587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</a:rPr>
              <a:t>Write hit and miss both use MEM_WRITE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144000" y="4572000"/>
            <a:ext cx="2377440" cy="658368"/>
          </a:xfrm>
          <a:prstGeom prst="roundRect">
            <a:avLst>
              <a:gd name="adj" fmla="val 11111"/>
            </a:avLst>
          </a:prstGeom>
          <a:solidFill>
            <a:srgbClr val="E8F7F5"/>
          </a:solidFill>
          <a:ln w="12700">
            <a:solidFill>
              <a:srgbClr val="E8F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53728" y="468172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</a:rPr>
              <a:t>Only read miss allocates cache line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Operation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Hit vs miss behavior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7/12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558"/>
                </a:solidFill>
              </a:rPr>
              <a:t>READ HIT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92240" y="960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558"/>
                </a:solidFill>
              </a:rPr>
              <a:t>READ MISS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03120" y="2084832"/>
            <a:ext cx="0" cy="566928"/>
          </a:xfrm>
          <a:prstGeom prst="line">
            <a:avLst/>
          </a:prstGeom>
          <a:noFill/>
          <a:ln w="1651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103120" y="3246120"/>
            <a:ext cx="0" cy="566928"/>
          </a:xfrm>
          <a:prstGeom prst="line">
            <a:avLst/>
          </a:prstGeom>
          <a:noFill/>
          <a:ln w="1651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18120" y="2084832"/>
            <a:ext cx="0" cy="566928"/>
          </a:xfrm>
          <a:prstGeom prst="line">
            <a:avLst/>
          </a:prstGeom>
          <a:noFill/>
          <a:ln w="1651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18120" y="3246120"/>
            <a:ext cx="0" cy="566928"/>
          </a:xfrm>
          <a:prstGeom prst="line">
            <a:avLst/>
          </a:prstGeom>
          <a:noFill/>
          <a:ln w="1651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818120" y="4407408"/>
            <a:ext cx="0" cy="566928"/>
          </a:xfrm>
          <a:prstGeom prst="line">
            <a:avLst/>
          </a:prstGeom>
          <a:noFill/>
          <a:ln w="1651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60120" y="1600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DDF6DE"/>
          </a:solidFill>
          <a:ln w="12700">
            <a:solidFill>
              <a:srgbClr val="DDF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69848" y="1709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Tag matches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valid 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743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DDEEFF"/>
          </a:solidFill>
          <a:ln w="12700">
            <a:solidFill>
              <a:srgbClr val="DDE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69848" y="2852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Cache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returned to CPU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60120" y="3886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69848" y="3995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Update LRU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No memory read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75120" y="1600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FFE1E1"/>
          </a:solidFill>
          <a:ln w="12700">
            <a:solidFill>
              <a:srgbClr val="FFE1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84848" y="1709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No valid tag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match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2743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E9D6FF"/>
          </a:solidFill>
          <a:ln w="12700">
            <a:solidFill>
              <a:srgbClr val="E9D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84848" y="2852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Enter MEM_READ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mem_req=1, mem_we=0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3886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DDF6DE"/>
          </a:solidFill>
          <a:ln w="12700">
            <a:solidFill>
              <a:srgbClr val="DDF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84848" y="3995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Fill invalid way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or replace LRU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5029200"/>
            <a:ext cx="2286000" cy="530352"/>
          </a:xfrm>
          <a:prstGeom prst="roundRect">
            <a:avLst>
              <a:gd name="adj" fmla="val 13793"/>
            </a:avLst>
          </a:prstGeom>
          <a:solidFill>
            <a:srgbClr val="DDEEFF"/>
          </a:solidFill>
          <a:ln w="12700">
            <a:solidFill>
              <a:srgbClr val="DDE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784848" y="51389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Return memory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</a:rPr>
              <a:t>to CPU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8680" y="5897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770"/>
                </a:solidFill>
              </a:rPr>
              <a:t>Key check: read hit must produce Memory Read = 0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46520" y="5897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770"/>
                </a:solidFill>
              </a:rPr>
              <a:t>Key check: read miss must produce Memory Read = 1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Policy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Write-Through + No-Write-Allocate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8/12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770"/>
                </a:solidFill>
              </a:rPr>
              <a:t>Same MEM_WRITE state, different cache action before it.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4983480" cy="4023360"/>
          </a:xfrm>
          <a:prstGeom prst="rect">
            <a:avLst/>
          </a:prstGeom>
          <a:solidFill>
            <a:srgbClr val="F8FBFF"/>
          </a:solidFill>
          <a:ln w="12700">
            <a:solidFill>
              <a:srgbClr val="CAD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92240" y="1417320"/>
            <a:ext cx="4983480" cy="4023360"/>
          </a:xfrm>
          <a:prstGeom prst="rect">
            <a:avLst/>
          </a:prstGeom>
          <a:solidFill>
            <a:srgbClr val="FFFDF7"/>
          </a:solidFill>
          <a:ln w="12700">
            <a:solidFill>
              <a:srgbClr val="E8D8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558"/>
                </a:solidFill>
              </a:rPr>
              <a:t>WRITE HIT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558"/>
                </a:solidFill>
              </a:rPr>
              <a:t>WRITE MISS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76272"/>
            <a:ext cx="429768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500" dirty="0">
                <a:solidFill>
                  <a:srgbClr val="111111"/>
                </a:solidFill>
              </a:rPr>
              <a:t>Address found in cache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Update cached copy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Update LRU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Enter MEM_WRITE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Main memory updated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2176272"/>
            <a:ext cx="429768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500" dirty="0">
                <a:solidFill>
                  <a:srgbClr val="111111"/>
                </a:solidFill>
              </a:rPr>
              <a:t>Address not cached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Do not update cache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No cache allocation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Enter MEM_WRITE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Main memory updated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89904" y="1417320"/>
            <a:ext cx="0" cy="4023360"/>
          </a:xfrm>
          <a:prstGeom prst="line">
            <a:avLst/>
          </a:prstGeom>
          <a:noFill/>
          <a:ln w="1524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011680" y="5669280"/>
            <a:ext cx="8138160" cy="502920"/>
          </a:xfrm>
          <a:prstGeom prst="roundRect">
            <a:avLst>
              <a:gd name="adj" fmla="val 14545"/>
            </a:avLst>
          </a:prstGeom>
          <a:solidFill>
            <a:srgbClr val="E8F7F5"/>
          </a:solidFill>
          <a:ln w="12700">
            <a:solidFill>
              <a:srgbClr val="E8F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21408" y="5779008"/>
            <a:ext cx="7918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</a:rPr>
              <a:t>CPU never writes memory directly — cache controller forwards mem_addr and mem_wdata.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LRU Replacement Example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Set 0 pressure test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9/12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896112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770"/>
                </a:solidFill>
              </a:rPr>
              <a:t>Addresses 0x1000, 0x2000, and 0x3000 all map to Set 0.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423160" y="2084832"/>
            <a:ext cx="502920" cy="0"/>
          </a:xfrm>
          <a:prstGeom prst="line">
            <a:avLst/>
          </a:prstGeom>
          <a:noFill/>
          <a:ln w="1778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778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03720" y="2084832"/>
            <a:ext cx="502920" cy="0"/>
          </a:xfrm>
          <a:prstGeom prst="line">
            <a:avLst/>
          </a:prstGeom>
          <a:noFill/>
          <a:ln w="1778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0" y="2084832"/>
            <a:ext cx="502920" cy="0"/>
          </a:xfrm>
          <a:prstGeom prst="line">
            <a:avLst/>
          </a:prstGeom>
          <a:noFill/>
          <a:ln w="17780">
            <a:solidFill>
              <a:srgbClr val="0B355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08760"/>
            <a:ext cx="1920240" cy="1143000"/>
          </a:xfrm>
          <a:prstGeom prst="roundRect">
            <a:avLst>
              <a:gd name="adj" fmla="val 4800"/>
            </a:avLst>
          </a:prstGeom>
          <a:solidFill>
            <a:srgbClr val="DDF6DE"/>
          </a:solidFill>
          <a:ln w="12700">
            <a:solidFill>
              <a:srgbClr val="A8B3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" y="169164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111"/>
                </a:solidFill>
              </a:rPr>
              <a:t>Read 0x1000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" y="205740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MISS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Way filled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0" y="1508760"/>
            <a:ext cx="1920240" cy="1143000"/>
          </a:xfrm>
          <a:prstGeom prst="roundRect">
            <a:avLst>
              <a:gd name="adj" fmla="val 4800"/>
            </a:avLst>
          </a:prstGeom>
          <a:solidFill>
            <a:srgbClr val="DDEEFF"/>
          </a:solidFill>
          <a:ln w="12700">
            <a:solidFill>
              <a:srgbClr val="A8B3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16352" y="169164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111"/>
                </a:solidFill>
              </a:rPr>
              <a:t>Read 0x2000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852928" y="205740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MISS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Second way filled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83480" y="1508760"/>
            <a:ext cx="1920240" cy="1143000"/>
          </a:xfrm>
          <a:prstGeom prst="roundRect">
            <a:avLst>
              <a:gd name="adj" fmla="val 4800"/>
            </a:avLst>
          </a:prstGeom>
          <a:solidFill>
            <a:srgbClr val="DDF6DE"/>
          </a:solidFill>
          <a:ln w="12700">
            <a:solidFill>
              <a:srgbClr val="A8B3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56632" y="169164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111"/>
                </a:solidFill>
              </a:rPr>
              <a:t>Read 0x1000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93208" y="205740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HIT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0x1000 becomes MRU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223760" y="1508760"/>
            <a:ext cx="1920240" cy="1143000"/>
          </a:xfrm>
          <a:prstGeom prst="roundRect">
            <a:avLst>
              <a:gd name="adj" fmla="val 4800"/>
            </a:avLst>
          </a:prstGeom>
          <a:solidFill>
            <a:srgbClr val="DDEEFF"/>
          </a:solidFill>
          <a:ln w="12700">
            <a:solidFill>
              <a:srgbClr val="A8B3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296912" y="169164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111"/>
                </a:solidFill>
              </a:rPr>
              <a:t>Read 0x3000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33488" y="205740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MISS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Replace LRU = 0x2000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464040" y="1508760"/>
            <a:ext cx="1920240" cy="1143000"/>
          </a:xfrm>
          <a:prstGeom prst="roundRect">
            <a:avLst>
              <a:gd name="adj" fmla="val 4800"/>
            </a:avLst>
          </a:prstGeom>
          <a:solidFill>
            <a:srgbClr val="DDF6DE"/>
          </a:solidFill>
          <a:ln w="12700">
            <a:solidFill>
              <a:srgbClr val="A8B3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537192" y="169164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111"/>
                </a:solidFill>
              </a:rPr>
              <a:t>Read 0x2000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573768" y="205740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MISS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</a:rPr>
              <a:t>Eviction confirmed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558"/>
                </a:solidFill>
              </a:rPr>
              <a:t>What this proves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" y="4297680"/>
            <a:ext cx="50292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450" dirty="0">
                <a:solidFill>
                  <a:srgbClr val="111111"/>
                </a:solidFill>
              </a:rPr>
              <a:t>Both ways are used before replacement</a:t>
            </a:r>
            <a:endParaRPr lang="en-US" sz="1450" dirty="0"/>
          </a:p>
          <a:p>
            <a:r>
              <a:rPr lang="en-US" sz="1450" dirty="0">
                <a:solidFill>
                  <a:srgbClr val="111111"/>
                </a:solidFill>
              </a:rPr>
              <a:t>LRU metadata changes on a hit</a:t>
            </a:r>
            <a:endParaRPr lang="en-US" sz="1450" dirty="0"/>
          </a:p>
          <a:p>
            <a:r>
              <a:rPr lang="en-US" sz="1450" dirty="0">
                <a:solidFill>
                  <a:srgbClr val="111111"/>
                </a:solidFill>
              </a:rPr>
              <a:t>Full set replaces least recently used line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766560" y="4297680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76288" y="4407408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</a:rPr>
              <a:t>2-way cache needs only one LRU bit per set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Strategy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Directed tests with compact reporting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10/12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896112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770"/>
                </a:solidFill>
              </a:rPr>
              <a:t>The testbench focuses on observable behavior, not random coverage.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85800" y="1508760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70992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558"/>
                </a:solidFill>
              </a:rPr>
              <a:t>Read tests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2039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miss → hit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multiple hits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read-after-write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70992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558"/>
                </a:solidFill>
              </a:rPr>
              <a:t>LRU tests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00800" y="2039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second-way fill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hit updates LRU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evicted line misses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337560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DDEEFF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53872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558"/>
                </a:solidFill>
              </a:rPr>
              <a:t>Write tests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38679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write hit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multiple write hits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write-through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337560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DDF6DE"/>
          </a:solidFill>
          <a:ln w="12700">
            <a:solidFill>
              <a:srgbClr val="B7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353872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558"/>
                </a:solidFill>
              </a:rPr>
              <a:t>Miss policy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00800" y="38679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write miss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no allocation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</a:rPr>
              <a:t>read after miss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525780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55848" y="5367528"/>
            <a:ext cx="554126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Memory access counters prove: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Read hit → 0 memory reads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Read miss → 1 memory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</a:rPr>
              <a:t>Every write → 1 memory write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 Evidence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EPWave and console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11/12</a:t>
            </a:r>
            <a:endParaRPr lang="en-US" sz="750" dirty="0"/>
          </a:p>
        </p:txBody>
      </p:sp>
      <p:pic>
        <p:nvPicPr>
          <p:cNvPr id="6" name="Image 0" descr="/mnt/data/report_extract/word/media/image3.png"/>
          <p:cNvPicPr>
            <a:picLocks noChangeAspect="1"/>
          </p:cNvPicPr>
          <p:nvPr/>
        </p:nvPicPr>
        <p:blipFill>
          <a:blip r:embed="rId3"/>
          <a:srcRect t="11513" b="11513"/>
          <a:stretch/>
        </p:blipFill>
        <p:spPr>
          <a:xfrm>
            <a:off x="502920" y="987552"/>
            <a:ext cx="11201400" cy="3571240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85800" y="4878832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C6770"/>
                </a:solidFill>
              </a:rPr>
              <a:t>EPWave shows CPU requests, cache request/ready behavior, memory transactions, returned data, and FSM state transitions.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914400" y="5674360"/>
            <a:ext cx="3246120" cy="457200"/>
          </a:xfrm>
          <a:prstGeom prst="roundRect">
            <a:avLst>
              <a:gd name="adj" fmla="val 16000"/>
            </a:avLst>
          </a:prstGeom>
          <a:solidFill>
            <a:srgbClr val="E8F7F5"/>
          </a:solidFill>
          <a:ln w="12700">
            <a:solidFill>
              <a:srgbClr val="E8F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1024128" y="578408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</a:rPr>
              <a:t>15 / 15 directed tests passed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389120" y="5674360"/>
            <a:ext cx="2697480" cy="457200"/>
          </a:xfrm>
          <a:prstGeom prst="roundRect">
            <a:avLst>
              <a:gd name="adj" fmla="val 16000"/>
            </a:avLst>
          </a:prstGeom>
          <a:solidFill>
            <a:srgbClr val="EDF7FF"/>
          </a:solidFill>
          <a:ln w="12700">
            <a:solidFill>
              <a:srgbClr val="EDF7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498848" y="5784088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</a:rPr>
              <a:t>FSM states visible: IDLE, LOOKUP, MEM_READ, MEM_WRITE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92640" y="2011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What the project demonstrates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556248"/>
            <a:ext cx="11338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492A6"/>
                </a:solidFill>
              </a:rPr>
              <a:t>Cache Controller | Verilog RTL | 12/12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3558"/>
                </a:solidFill>
              </a:rPr>
              <a:t>Implemented successfully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554480"/>
            <a:ext cx="566928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00" dirty="0">
                <a:solidFill>
                  <a:srgbClr val="111111"/>
                </a:solidFill>
              </a:rPr>
              <a:t>2-way set-associative cache controller in Verilog</a:t>
            </a:r>
            <a:endParaRPr lang="en-US" sz="1600" dirty="0"/>
          </a:p>
          <a:p>
            <a:r>
              <a:rPr lang="en-US" sz="1600" dirty="0">
                <a:solidFill>
                  <a:srgbClr val="111111"/>
                </a:solidFill>
              </a:rPr>
              <a:t>LRU replacement verified using Set-0 pressure tests</a:t>
            </a:r>
            <a:endParaRPr lang="en-US" sz="1600" dirty="0"/>
          </a:p>
          <a:p>
            <a:r>
              <a:rPr lang="en-US" sz="1600" dirty="0">
                <a:solidFill>
                  <a:srgbClr val="111111"/>
                </a:solidFill>
              </a:rPr>
              <a:t>Write-Through verified on write hits and write misses</a:t>
            </a:r>
            <a:endParaRPr lang="en-US" sz="1600" dirty="0"/>
          </a:p>
          <a:p>
            <a:r>
              <a:rPr lang="en-US" sz="1600" dirty="0">
                <a:solidFill>
                  <a:srgbClr val="111111"/>
                </a:solidFill>
              </a:rPr>
              <a:t>No-Write-Allocate verified by read-after-write-miss behavior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3376168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0B3558"/>
          </a:solidFill>
          <a:ln w="12700">
            <a:solidFill>
              <a:srgbClr val="0B35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51560" y="3741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Final Check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43000" y="4336288"/>
            <a:ext cx="26517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6EAF8"/>
                </a:solidFill>
              </a:rPr>
              <a:t>15 directed tests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D6EAF8"/>
                </a:solidFill>
              </a:rPr>
              <a:t>0 failed checks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D6EAF8"/>
                </a:solidFill>
              </a:rPr>
              <a:t>Synthesizable RTL design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325880" y="5890768"/>
            <a:ext cx="2286000" cy="0"/>
          </a:xfrm>
          <a:prstGeom prst="line">
            <a:avLst/>
          </a:prstGeom>
          <a:noFill/>
          <a:ln w="25400">
            <a:solidFill>
              <a:srgbClr val="00A3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5797296"/>
            <a:ext cx="7711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770"/>
                </a:solidFill>
              </a:rPr>
              <a:t>Ready for project review and waveform explanation</a:t>
            </a:r>
            <a:endParaRPr lang="en-US" sz="1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A2C31A-7D61-20A8-9B6E-E45881156B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7261"/>
          <a:stretch>
            <a:fillRect/>
          </a:stretch>
        </p:blipFill>
        <p:spPr bwMode="auto">
          <a:xfrm>
            <a:off x="6660515" y="1280160"/>
            <a:ext cx="5089525" cy="3792220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882</Words>
  <Application>Microsoft Office PowerPoint</Application>
  <PresentationFormat>Widescreen</PresentationFormat>
  <Paragraphs>220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Verification of a 2-Way Set-Associative Cache Controller</dc:title>
  <dc:subject>2-Way Set-Associative Cache Controller</dc:subject>
  <dc:creator>OpenAI</dc:creator>
  <cp:lastModifiedBy>Muhammad Hammad</cp:lastModifiedBy>
  <cp:revision>5</cp:revision>
  <dcterms:created xsi:type="dcterms:W3CDTF">2026-09-23T02:48:54Z</dcterms:created>
  <dcterms:modified xsi:type="dcterms:W3CDTF">2026-09-23T11:20:20Z</dcterms:modified>
</cp:coreProperties>
</file>